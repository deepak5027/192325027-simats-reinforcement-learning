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Model-Based RL</c:v>
                </c:pt>
              </c:strCache>
            </c:strRef>
          </c:tx>
          <c:spPr>
            <a:solidFill>
              <a:srgbClr val="12A5A0"/>
            </a:solidFill>
            <a:ln w="40640" cap="flat">
              <a:solidFill>
                <a:srgbClr val="12A5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A5A0"/>
              </a:solidFill>
              <a:ln w="9525" cap="flat">
                <a:solidFill>
                  <a:srgbClr val="12A5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1k</c:v>
                  </c:pt>
                  <c:pt idx="2">
                    <c:v>2k</c:v>
                  </c:pt>
                  <c:pt idx="3">
                    <c:v>4k</c:v>
                  </c:pt>
                  <c:pt idx="4">
                    <c:v>8k</c:v>
                  </c:pt>
                  <c:pt idx="5">
                    <c:v>16k</c:v>
                  </c:pt>
                  <c:pt idx="6">
                    <c:v>32k</c:v>
                  </c:pt>
                  <c:pt idx="7">
                    <c:v>64k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28</c:v>
                </c:pt>
                <c:pt idx="2">
                  <c:v>48</c:v>
                </c:pt>
                <c:pt idx="3">
                  <c:v>66</c:v>
                </c:pt>
                <c:pt idx="4">
                  <c:v>80</c:v>
                </c:pt>
                <c:pt idx="5">
                  <c:v>89</c:v>
                </c:pt>
                <c:pt idx="6">
                  <c:v>94</c:v>
                </c:pt>
                <c:pt idx="7">
                  <c:v>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Model-Free RL</c:v>
                </c:pt>
              </c:strCache>
            </c:strRef>
          </c:tx>
          <c:spPr>
            <a:solidFill>
              <a:srgbClr val="6C7891"/>
            </a:solidFill>
            <a:ln w="40640" cap="flat">
              <a:solidFill>
                <a:srgbClr val="6C789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C7891"/>
              </a:solidFill>
              <a:ln w="9525" cap="flat">
                <a:solidFill>
                  <a:srgbClr val="6C789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1k</c:v>
                  </c:pt>
                  <c:pt idx="2">
                    <c:v>2k</c:v>
                  </c:pt>
                  <c:pt idx="3">
                    <c:v>4k</c:v>
                  </c:pt>
                  <c:pt idx="4">
                    <c:v>8k</c:v>
                  </c:pt>
                  <c:pt idx="5">
                    <c:v>16k</c:v>
                  </c:pt>
                  <c:pt idx="6">
                    <c:v>32k</c:v>
                  </c:pt>
                  <c:pt idx="7">
                    <c:v>64k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5</c:v>
                </c:pt>
                <c:pt idx="2">
                  <c:v>11</c:v>
                </c:pt>
                <c:pt idx="3">
                  <c:v>19</c:v>
                </c:pt>
                <c:pt idx="4">
                  <c:v>30</c:v>
                </c:pt>
                <c:pt idx="5">
                  <c:v>43</c:v>
                </c:pt>
                <c:pt idx="6">
                  <c:v>57</c:v>
                </c:pt>
                <c:pt idx="7">
                  <c:v>71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C7891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C7891"/>
                    </a:solidFill>
                    <a:latin typeface="Calibri"/>
                  </a:rPr>
                  <a:t>Environment interactions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89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9E1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C7891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C7891"/>
                    </a:solidFill>
                    <a:latin typeface="Calibri"/>
                  </a:rPr>
                  <a:t>Performance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89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Model-Based Reinforcement Learning for Autonomous Decision-Making. CO4: evaluate model-based RL for prediction, planning and policy optimisation.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Model-free is simple but data-hungry. Model-based learns a world model and plans with it, giving large sample-efficiency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loop: act and collect experience, learn a dynamics and reward model, plan/optimise the policy, then execute. Imagined rollouts feed extra planning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Dynamics + reward models form a learned MDP. Uncertainty-aware and value-equivalent models make planning robust.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Planning strategies: sampling-based (CEM), MCTS, MPC (receding horizon), and Dyna (real + imagined experience).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Model-based learning curves rise faster because planning reuses each sample. The main caveat is dependence on model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MBRL is applied where data is costly and safety matters: robotics, manufacturing, self-driving, energy, healthcare and 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learn a model, plan with it for sample-efficient, safe and adaptive autonomous decisions. Model accuracy is the key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960120"/>
            <a:ext cx="4389120" cy="4389120"/>
          </a:xfrm>
          <a:prstGeom prst="ellipse">
            <a:avLst/>
          </a:prstGeom>
          <a:ln w="15875">
            <a:solidFill>
              <a:srgbClr val="12A5A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554480"/>
            <a:ext cx="3200400" cy="3200400"/>
          </a:xfrm>
          <a:prstGeom prst="ellipse">
            <a:avLst/>
          </a:prstGeom>
          <a:ln w="15875">
            <a:solidFill>
              <a:srgbClr val="F4A934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500" y="2354580"/>
            <a:ext cx="1600200" cy="1600200"/>
          </a:xfrm>
          <a:prstGeom prst="ellipse">
            <a:avLst/>
          </a:prstGeom>
          <a:solidFill>
            <a:srgbClr val="24356A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5" name="Image 0" descr="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6548" y="2738628"/>
            <a:ext cx="832104" cy="8321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62872" y="850392"/>
            <a:ext cx="219456" cy="219456"/>
          </a:xfrm>
          <a:prstGeom prst="ellipse">
            <a:avLst/>
          </a:prstGeom>
          <a:solidFill>
            <a:srgbClr val="12A5A0"/>
          </a:solidFill>
          <a:ln/>
        </p:spPr>
      </p:sp>
      <p:sp>
        <p:nvSpPr>
          <p:cNvPr id="7" name="Shape 4"/>
          <p:cNvSpPr/>
          <p:nvPr/>
        </p:nvSpPr>
        <p:spPr>
          <a:xfrm>
            <a:off x="10853928" y="4343400"/>
            <a:ext cx="182880" cy="182880"/>
          </a:xfrm>
          <a:prstGeom prst="ellipse">
            <a:avLst/>
          </a:prstGeom>
          <a:solidFill>
            <a:srgbClr val="F4A934"/>
          </a:solidFill>
          <a:ln/>
        </p:spPr>
      </p:sp>
      <p:sp>
        <p:nvSpPr>
          <p:cNvPr id="8" name="Shape 5"/>
          <p:cNvSpPr/>
          <p:nvPr/>
        </p:nvSpPr>
        <p:spPr>
          <a:xfrm>
            <a:off x="7836408" y="420624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005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MLA03 · REINFORCEMENT LEARNING · CO4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1737360"/>
            <a:ext cx="7955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Model-Based Reinforcement</a:t>
            </a:r>
            <a:endParaRPr lang="en-US" sz="3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</a:t>
            </a:r>
            <a:endParaRPr lang="en-US" sz="3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900" b="1" dirty="0">
                <a:solidFill>
                  <a:srgbClr val="12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Autonomous Decision-Making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777240" y="43708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 model of the world to predict, plan, and act.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4672" y="5230368"/>
            <a:ext cx="3749040" cy="0"/>
          </a:xfrm>
          <a:prstGeom prst="line">
            <a:avLst/>
          </a:prstGeom>
          <a:noFill/>
          <a:ln w="12700">
            <a:solidFill>
              <a:srgbClr val="2C3A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 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5760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192325002   ·   SIMATS Engineering   ·   Faculty: Dr G. A. Senthil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Model-Based Reinforcement Learning?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reinforcement learning agent learns by interacting with an environment to maximise long-term reward. The two broad families of RL differ in what the agent actually learns: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31012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A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10–100×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95528" y="4224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environment interactions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4617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agents can reach the same performance with a fraction of the real-world data that model-free methods need — the core reason they matter.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9088" y="2304288"/>
            <a:ext cx="914400" cy="914400"/>
          </a:xfrm>
          <a:prstGeom prst="ellipse">
            <a:avLst/>
          </a:prstGeom>
          <a:solidFill>
            <a:srgbClr val="12A5A0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1" name="Image 0" descr="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4" y="2523744"/>
            <a:ext cx="475488" cy="475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0" y="21122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Model-Free RL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498080" y="2514600"/>
            <a:ext cx="4041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policy or value function directly from trial-and-error. Simple and general, but needs a very large number of real interactions.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26480" y="374904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19088" y="4178808"/>
            <a:ext cx="914400" cy="914400"/>
          </a:xfrm>
          <a:prstGeom prst="ellipse">
            <a:avLst/>
          </a:prstGeom>
          <a:solidFill>
            <a:srgbClr val="16264A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6" name="Image 1" descr="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4398264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80" y="3986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RL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498080" y="4389120"/>
            <a:ext cx="4041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model of the environment — how states evolve and what rewards follow — then plans with it, reusing experience and enabling foresight.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Reinforcement Learning  ·  CO4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92840" y="64008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Model-Based RL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repeatedly acts in the real world, learns a model from that experience, and plans with the model to improve its policy.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240280" cy="1280160"/>
          </a:xfrm>
          <a:prstGeom prst="roundRect">
            <a:avLst>
              <a:gd name="adj" fmla="val 7143"/>
            </a:avLst>
          </a:prstGeom>
          <a:solidFill>
            <a:srgbClr val="16264A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6" name="Image 0" descr="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08152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024" y="26974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64992" y="26974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2A5A0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9" name="Image 1" descr="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08152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51376" y="26974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LEARNING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· reward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55664" y="269748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24356A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2" name="Image 2" descr="icons/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081528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42048" y="26974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OPTIMISATION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9409176" y="2697480"/>
            <a:ext cx="2231136" cy="1280160"/>
          </a:xfrm>
          <a:prstGeom prst="roundRect">
            <a:avLst>
              <a:gd name="adj" fmla="val 7143"/>
            </a:avLst>
          </a:prstGeom>
          <a:solidFill>
            <a:srgbClr val="16264A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5" name="Image 3" descr="icons/crosshai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344" y="3081528"/>
            <a:ext cx="512064" cy="5120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195560" y="2697480"/>
            <a:ext cx="1362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2788920" y="3337560"/>
            <a:ext cx="576072" cy="0"/>
          </a:xfrm>
          <a:prstGeom prst="line">
            <a:avLst/>
          </a:prstGeom>
          <a:noFill/>
          <a:ln w="30480">
            <a:solidFill>
              <a:srgbClr val="F4A934"/>
            </a:solidFill>
            <a:prstDash val="solid"/>
            <a:tailEnd type="triangle"/>
          </a:ln>
        </p:spPr>
      </p:sp>
      <p:sp>
        <p:nvSpPr>
          <p:cNvPr id="18" name="Text 12"/>
          <p:cNvSpPr/>
          <p:nvPr/>
        </p:nvSpPr>
        <p:spPr>
          <a:xfrm>
            <a:off x="2208276" y="2286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 (s,a,r,s′)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833872" y="3337560"/>
            <a:ext cx="621792" cy="0"/>
          </a:xfrm>
          <a:prstGeom prst="line">
            <a:avLst/>
          </a:prstGeom>
          <a:noFill/>
          <a:ln w="30480">
            <a:solidFill>
              <a:srgbClr val="F4A934"/>
            </a:solidFill>
            <a:prstDash val="solid"/>
            <a:tailEnd type="triangle"/>
          </a:ln>
        </p:spPr>
      </p:sp>
      <p:sp>
        <p:nvSpPr>
          <p:cNvPr id="20" name="Text 14"/>
          <p:cNvSpPr/>
          <p:nvPr/>
        </p:nvSpPr>
        <p:spPr>
          <a:xfrm>
            <a:off x="5276088" y="2286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model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9061704" y="3337560"/>
            <a:ext cx="347472" cy="0"/>
          </a:xfrm>
          <a:prstGeom prst="line">
            <a:avLst/>
          </a:prstGeom>
          <a:noFill/>
          <a:ln w="30480">
            <a:solidFill>
              <a:srgbClr val="F4A934"/>
            </a:solidFill>
            <a:prstDash val="solid"/>
            <a:tailEnd type="triangle"/>
          </a:ln>
        </p:spPr>
      </p:sp>
      <p:sp>
        <p:nvSpPr>
          <p:cNvPr id="22" name="Text 16"/>
          <p:cNvSpPr/>
          <p:nvPr/>
        </p:nvSpPr>
        <p:spPr>
          <a:xfrm>
            <a:off x="8366760" y="2286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policy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364992" y="47548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364992" y="4754880"/>
            <a:ext cx="2468880" cy="868680"/>
          </a:xfrm>
          <a:prstGeom prst="roundRect">
            <a:avLst>
              <a:gd name="adj" fmla="val 8421"/>
            </a:avLst>
          </a:prstGeom>
          <a:ln w="19050">
            <a:solidFill>
              <a:srgbClr val="12A5A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401568" y="4791456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Imagined rollouts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(simulated experience)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99432" y="3977640"/>
            <a:ext cx="0" cy="777240"/>
          </a:xfrm>
          <a:prstGeom prst="line">
            <a:avLst/>
          </a:prstGeom>
          <a:noFill/>
          <a:ln w="27940">
            <a:solidFill>
              <a:srgbClr val="12A5A0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833872" y="5074920"/>
            <a:ext cx="1924812" cy="-1097280"/>
          </a:xfrm>
          <a:prstGeom prst="line">
            <a:avLst/>
          </a:prstGeom>
          <a:noFill/>
          <a:ln w="27940">
            <a:solidFill>
              <a:srgbClr val="12A5A0"/>
            </a:solidFill>
            <a:prstDash val="solid"/>
            <a:tailEnd type="triangle"/>
          </a:ln>
        </p:spPr>
      </p:sp>
      <p:sp>
        <p:nvSpPr>
          <p:cNvPr id="28" name="Text 22"/>
          <p:cNvSpPr/>
          <p:nvPr/>
        </p:nvSpPr>
        <p:spPr>
          <a:xfrm>
            <a:off x="5943600" y="4434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data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10529316" y="3977640"/>
            <a:ext cx="0" cy="2148840"/>
          </a:xfrm>
          <a:prstGeom prst="line">
            <a:avLst/>
          </a:prstGeom>
          <a:noFill/>
          <a:ln w="30480">
            <a:solidFill>
              <a:srgbClr val="F4A934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1664208" y="6126480"/>
            <a:ext cx="8869680" cy="0"/>
          </a:xfrm>
          <a:prstGeom prst="line">
            <a:avLst/>
          </a:prstGeom>
          <a:noFill/>
          <a:ln w="30480">
            <a:solidFill>
              <a:srgbClr val="F4A934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664208" y="6126480"/>
            <a:ext cx="0" cy="-2148840"/>
          </a:xfrm>
          <a:prstGeom prst="line">
            <a:avLst/>
          </a:prstGeom>
          <a:noFill/>
          <a:ln w="30480">
            <a:solidFill>
              <a:srgbClr val="F4A934"/>
            </a:solidFill>
            <a:prstDash val="solid"/>
            <a:tailEnd type="triangle"/>
          </a:ln>
        </p:spPr>
      </p:sp>
      <p:sp>
        <p:nvSpPr>
          <p:cNvPr id="32" name="Text 26"/>
          <p:cNvSpPr/>
          <p:nvPr/>
        </p:nvSpPr>
        <p:spPr>
          <a:xfrm>
            <a:off x="2743200" y="58155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action  a  in the real environment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Reinforcement Learning  ·  CO4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92840" y="64008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the Environment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model is learned from logged transitions. Good models predict accurately and know when they are uncertain.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32888"/>
            <a:ext cx="914400" cy="914400"/>
          </a:xfrm>
          <a:prstGeom prst="ellipse">
            <a:avLst/>
          </a:prstGeom>
          <a:solidFill>
            <a:srgbClr val="12A5A0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7" name="Image 0" descr="icons/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752344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3225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Model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965960" y="272491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next state  s′ = f(s, a) — the heart of the world model.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99632" y="210312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9672" y="2532888"/>
            <a:ext cx="914400" cy="914400"/>
          </a:xfrm>
          <a:prstGeom prst="ellipse">
            <a:avLst/>
          </a:prstGeom>
          <a:solidFill>
            <a:srgbClr val="F4A934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2" name="Image 1" descr="icons/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752344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16952" y="23225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616952" y="272491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immediate reward  r = g(s, a), completing a learned MDP.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544568"/>
            <a:ext cx="914400" cy="914400"/>
          </a:xfrm>
          <a:prstGeom prst="ellipse">
            <a:avLst/>
          </a:prstGeom>
          <a:solidFill>
            <a:srgbClr val="16264A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7" name="Image 2" descr="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4764024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4334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965960" y="473659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/ probabilistic models capture where the model is unreliable, so planning stays cautious (e.g. PETS).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99632" y="4114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19672" y="4544568"/>
            <a:ext cx="914400" cy="914400"/>
          </a:xfrm>
          <a:prstGeom prst="ellipse">
            <a:avLst/>
          </a:prstGeom>
          <a:solidFill>
            <a:srgbClr val="24356A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22" name="Image 3" descr="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764024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16952" y="4334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Value-Equivalent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616952" y="473659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so that planning yields correct values, not pixel-perfect predictions (e.g. MuZero).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Reinforcement Learning  ·  CO4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92840" y="64008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&amp; Policy Optimisation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model exists, the agent plans with it — searching or simulating futures to choose and improve actions.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4168" y="2446020"/>
            <a:ext cx="1051560" cy="1051560"/>
          </a:xfrm>
          <a:prstGeom prst="ellipse">
            <a:avLst/>
          </a:prstGeom>
          <a:solidFill>
            <a:srgbClr val="12A5A0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7" name="Image 0" descr="icons/shuff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6542" y="2698394"/>
            <a:ext cx="546811" cy="5468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3611880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Sampling-Based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42976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many random action sequences (random shooting, CEM) and keep the best.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64992" y="21945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42232" y="2446020"/>
            <a:ext cx="1051560" cy="1051560"/>
          </a:xfrm>
          <a:prstGeom prst="ellipse">
            <a:avLst/>
          </a:prstGeom>
          <a:solidFill>
            <a:srgbClr val="16264A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2" name="Image 1" descr="icons/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606" y="2698394"/>
            <a:ext cx="546811" cy="54681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3611880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Tree Search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47872" y="42976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Selectively grow a search tree of futures — powers AlphaZero &amp; MuZero.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63056" y="21945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40296" y="2446020"/>
            <a:ext cx="1051560" cy="1051560"/>
          </a:xfrm>
          <a:prstGeom prst="ellipse">
            <a:avLst/>
          </a:prstGeom>
          <a:solidFill>
            <a:srgbClr val="F4A934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7" name="Image 2" descr="icons/crosshai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670" y="2698394"/>
            <a:ext cx="546811" cy="54681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72784" y="3611880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Predictive Control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45936" y="42976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over a short horizon, execute the first action, then re-plan every step.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61120" y="21945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38360" y="2446020"/>
            <a:ext cx="1051560" cy="1051560"/>
          </a:xfrm>
          <a:prstGeom prst="ellipse">
            <a:avLst/>
          </a:prstGeom>
          <a:solidFill>
            <a:srgbClr val="24356A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22" name="Image 3" descr="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734" y="2698394"/>
            <a:ext cx="546811" cy="54681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70848" y="3611880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144000" y="42976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real and model-generated experience to train the policy faster.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Reinforcement Learning  ·  CO4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92840" y="64008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Efficiency: The Key Advantage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4465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2057400"/>
          <a:ext cx="6080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623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learning curves.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269480" y="1874520"/>
            <a:ext cx="43434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20116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A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10×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516368" y="28163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interactions to reach the same performance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34072" y="3739896"/>
            <a:ext cx="402336" cy="402336"/>
          </a:xfrm>
          <a:prstGeom prst="ellipse">
            <a:avLst/>
          </a:prstGeom>
          <a:solidFill>
            <a:srgbClr val="12A5A0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1" name="Image 0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633" y="3836457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01000" y="372160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real interaction is reused by planning with imagined data.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434072" y="4471416"/>
            <a:ext cx="402336" cy="402336"/>
          </a:xfrm>
          <a:prstGeom prst="ellipse">
            <a:avLst/>
          </a:prstGeom>
          <a:solidFill>
            <a:srgbClr val="12A5A0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4" name="Image 1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633" y="4567977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01000" y="44531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where data is costly or unsafe — robots, healthcare, industry.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434072" y="5202936"/>
            <a:ext cx="402336" cy="402336"/>
          </a:xfrm>
          <a:prstGeom prst="ellipse">
            <a:avLst/>
          </a:prstGeom>
          <a:solidFill>
            <a:srgbClr val="12A5A0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7" name="Image 2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0633" y="529949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01000" y="518464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performance depends on the accuracy of the learned model.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Reinforcement Learning  ·  CO4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92840" y="64008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Applications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01568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395728"/>
            <a:ext cx="841248" cy="841248"/>
          </a:xfrm>
          <a:prstGeom prst="ellipse">
            <a:avLst/>
          </a:prstGeom>
          <a:solidFill>
            <a:srgbClr val="12A5A0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6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148" y="2597628"/>
            <a:ext cx="437449" cy="4374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Robots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529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Sample-efficient navigation &amp; manipulation.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78808" y="2194560"/>
            <a:ext cx="3401568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2395728"/>
            <a:ext cx="841248" cy="841248"/>
          </a:xfrm>
          <a:prstGeom prst="ellipse">
            <a:avLst/>
          </a:prstGeom>
          <a:solidFill>
            <a:srgbClr val="16264A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1" name="Image 1" descr="icons/fac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16" y="2597628"/>
            <a:ext cx="437449" cy="4374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1688" y="324612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Manufacturing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361688" y="3529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process control, maintenance.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08976" y="2194560"/>
            <a:ext cx="3401568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01584" y="2395728"/>
            <a:ext cx="841248" cy="841248"/>
          </a:xfrm>
          <a:prstGeom prst="ellipse">
            <a:avLst/>
          </a:prstGeom>
          <a:solidFill>
            <a:srgbClr val="F4A934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6" name="Image 2" descr="icons/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484" y="2597628"/>
            <a:ext cx="437449" cy="4374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91856" y="324612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991856" y="3529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planning with learned dynamics.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401568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315968"/>
            <a:ext cx="841248" cy="841248"/>
          </a:xfrm>
          <a:prstGeom prst="ellipse">
            <a:avLst/>
          </a:prstGeom>
          <a:solidFill>
            <a:srgbClr val="24356A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21" name="Image 3" descr="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148" y="4517868"/>
            <a:ext cx="437449" cy="4374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51663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&amp; Energy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31520" y="54498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and storage dispatch.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178808" y="4114800"/>
            <a:ext cx="3401568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71416" y="4315968"/>
            <a:ext cx="841248" cy="841248"/>
          </a:xfrm>
          <a:prstGeom prst="ellipse">
            <a:avLst/>
          </a:prstGeom>
          <a:solidFill>
            <a:srgbClr val="12A5A0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26" name="Image 4" descr="icons/he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316" y="4517868"/>
            <a:ext cx="437449" cy="4374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61688" y="51663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Decisions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361688" y="54498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treatment planning.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808976" y="4114800"/>
            <a:ext cx="3401568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01584" y="4315968"/>
            <a:ext cx="841248" cy="841248"/>
          </a:xfrm>
          <a:prstGeom prst="ellipse">
            <a:avLst/>
          </a:prstGeom>
          <a:solidFill>
            <a:srgbClr val="16264A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31" name="Image 5" descr="icons/trend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3484" y="4517868"/>
            <a:ext cx="437449" cy="4374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991856" y="51663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Trading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991856" y="54498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and execution policies.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Reinforcement Learning  ·  CO4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92840" y="64008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12A5A0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5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1890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0391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Learn, then plan. 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MBRL learns a model of the environment and uses it for prediction, planning and policy optimisation.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2807208"/>
            <a:ext cx="548640" cy="548640"/>
          </a:xfrm>
          <a:prstGeom prst="ellipse">
            <a:avLst/>
          </a:prstGeom>
          <a:solidFill>
            <a:srgbClr val="12A5A0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8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2938882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7889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efficiency. 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with imagined experience reaches strong performance with far fewer real interactions.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22960" y="3557016"/>
            <a:ext cx="548640" cy="548640"/>
          </a:xfrm>
          <a:prstGeom prst="ellipse">
            <a:avLst/>
          </a:prstGeom>
          <a:solidFill>
            <a:srgbClr val="12A5A0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1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3688690"/>
            <a:ext cx="285293" cy="2852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35387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planners, one idea. 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MPC, MCTS and Dyna all turn a learned model into effective real-time decisions.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22960" y="4306824"/>
            <a:ext cx="548640" cy="548640"/>
          </a:xfrm>
          <a:prstGeom prst="ellipse">
            <a:avLst/>
          </a:prstGeom>
          <a:solidFill>
            <a:srgbClr val="12A5A0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pic>
        <p:nvPicPr>
          <p:cNvPr id="14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438498"/>
            <a:ext cx="285293" cy="28529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428853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is decisive. 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and value-equivalent models keep planning reliable as errors compound.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10526"/>
            </a:avLst>
          </a:prstGeom>
          <a:solidFill>
            <a:srgbClr val="24356A"/>
          </a:solidFill>
          <a:ln/>
          <a:effectLst>
            <a:outerShdw sx="100000" sy="100000" kx="0" ky="0" algn="bl" rotWithShape="0" blurRad="114300" dist="38100" dir="5400000">
              <a:srgbClr val="9AA7BC">
                <a:alpha val="3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1005840" y="5504688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F4A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RL bridges learning and planning — enabling autonomous systems to act efficiently, safely, and adaptively from limited real-world experience.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7724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 ·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 S · 192325002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2026-08-22T03:58:03Z</dcterms:created>
  <dcterms:modified xsi:type="dcterms:W3CDTF">2026-08-22T03:58:03Z</dcterms:modified>
</cp:coreProperties>
</file>